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75" r:id="rId11"/>
    <p:sldId id="263" r:id="rId12"/>
    <p:sldId id="276" r:id="rId13"/>
    <p:sldId id="264" r:id="rId14"/>
    <p:sldId id="265" r:id="rId15"/>
    <p:sldId id="266" r:id="rId16"/>
    <p:sldId id="277" r:id="rId17"/>
    <p:sldId id="267" r:id="rId18"/>
    <p:sldId id="278" r:id="rId19"/>
    <p:sldId id="268" r:id="rId20"/>
    <p:sldId id="271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6F2B34-C3CD-40B7-9404-B7805C8A848A}" v="3" dt="2025-12-01T22:46:14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A16F22E-4716-CA29-1F53-4AAD52955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20378" y="-18309"/>
            <a:ext cx="3328924" cy="6883029"/>
            <a:chOff x="7760503" y="-18309"/>
            <a:chExt cx="4438566" cy="688302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412336-19ED-F153-443B-C46CDBED6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06AA53-E761-6881-5941-313119CC7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4707E7-29B6-36B5-B4C4-6160DFDB9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1A8476-48ED-D7D6-F383-338B2F00A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909265" y="209034"/>
            <a:ext cx="3018425" cy="3136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r>
              <a:rPr lang="en-US" sz="3200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PORT AUTHORITY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r>
              <a:rPr lang="en-US" sz="3200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 TERMINAL PASSENGER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u="sng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FORECASTING PROJECT</a:t>
            </a:r>
          </a:p>
        </p:txBody>
      </p:sp>
      <p:pic>
        <p:nvPicPr>
          <p:cNvPr id="5" name="Picture 4" descr="Outdoor warehouse">
            <a:extLst>
              <a:ext uri="{FF2B5EF4-FFF2-40B4-BE49-F238E27FC236}">
                <a16:creationId xmlns:a16="http://schemas.microsoft.com/office/drawing/2014/main" id="{C4D967F9-D8B9-F5D5-672F-3F3672048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67" r="27412"/>
          <a:stretch>
            <a:fillRect/>
          </a:stretch>
        </p:blipFill>
        <p:spPr>
          <a:xfrm>
            <a:off x="5320" y="-28996"/>
            <a:ext cx="5820361" cy="68723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900" y="3816197"/>
            <a:ext cx="31511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IN" sz="2400" b="1" dirty="0"/>
          </a:p>
          <a:p>
            <a:pPr>
              <a:spcAft>
                <a:spcPts val="600"/>
              </a:spcAft>
            </a:pPr>
            <a:r>
              <a:rPr sz="2400" b="1" dirty="0"/>
              <a:t>2026-2030 Forecast: </a:t>
            </a:r>
            <a:endParaRPr lang="en-US" sz="2400" b="1" dirty="0"/>
          </a:p>
          <a:p>
            <a:pPr>
              <a:spcAft>
                <a:spcPts val="600"/>
              </a:spcAft>
            </a:pPr>
            <a:r>
              <a:rPr sz="2400" b="1" dirty="0"/>
              <a:t>27.3M Passengers</a:t>
            </a:r>
            <a:endParaRPr lang="en-IN" sz="2400" b="1" dirty="0"/>
          </a:p>
          <a:p>
            <a:pPr>
              <a:spcAft>
                <a:spcPts val="600"/>
              </a:spcAft>
            </a:pPr>
            <a:endParaRPr lang="en-IN" sz="2400" b="1" dirty="0"/>
          </a:p>
          <a:p>
            <a:pPr>
              <a:spcAft>
                <a:spcPts val="600"/>
              </a:spcAft>
            </a:pPr>
            <a:r>
              <a:rPr sz="2400" b="1" dirty="0"/>
              <a:t>Excel | R | Power BI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84F50-ACB1-F956-38E5-03427E475566}"/>
              </a:ext>
            </a:extLst>
          </p:cNvPr>
          <p:cNvSpPr txBox="1"/>
          <p:nvPr/>
        </p:nvSpPr>
        <p:spPr>
          <a:xfrm>
            <a:off x="5825681" y="3071060"/>
            <a:ext cx="3018425" cy="3136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r>
              <a:rPr lang="en-US" sz="3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GROUP – 6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r>
              <a:rPr lang="en-US" sz="3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BANL-6430-02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endParaRPr lang="en-US" sz="3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endParaRPr lang="en-US" sz="3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endParaRPr lang="en-US" sz="3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77B4"/>
                </a:solidFill>
              </a:defRPr>
            </a:pPr>
            <a:endParaRPr lang="en-US" sz="3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1F77B4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50767" y="492766"/>
            <a:ext cx="5093004" cy="5872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/>
            </a:pPr>
            <a:r>
              <a:rPr lang="en-US" sz="2800" b="1" dirty="0"/>
              <a:t>1. Project Overview</a:t>
            </a:r>
            <a:br>
              <a:rPr lang="en-US" sz="2800" b="1" dirty="0"/>
            </a:br>
            <a:r>
              <a:rPr lang="en-US" sz="2800" b="1" dirty="0"/>
              <a:t>2. Executive Summary</a:t>
            </a:r>
            <a:br>
              <a:rPr lang="en-US" sz="2800" b="1" dirty="0"/>
            </a:br>
            <a:r>
              <a:rPr lang="en-US" sz="2800" b="1" dirty="0"/>
              <a:t>3. Pre-COVID Recovery  Analysis</a:t>
            </a:r>
            <a:br>
              <a:rPr lang="en-US" sz="2800" b="1" dirty="0"/>
            </a:br>
            <a:r>
              <a:rPr lang="en-US" sz="2800" b="1" dirty="0"/>
              <a:t>4. Three Modeling Techniques</a:t>
            </a:r>
            <a:br>
              <a:rPr lang="en-US" sz="2800" b="1" dirty="0"/>
            </a:br>
            <a:r>
              <a:rPr lang="en-US" sz="2800" b="1" dirty="0"/>
              <a:t>5. Model Comparison</a:t>
            </a:r>
            <a:br>
              <a:rPr lang="en-US" sz="2800" b="1" dirty="0"/>
            </a:br>
            <a:r>
              <a:rPr lang="en-US" sz="2800" b="1" dirty="0"/>
              <a:t>6. Q1: Passenger Projections</a:t>
            </a:r>
            <a:br>
              <a:rPr lang="en-US" sz="2800" b="1" dirty="0"/>
            </a:br>
            <a:r>
              <a:rPr lang="en-US" sz="2800" b="1" dirty="0"/>
              <a:t>7. Q2: Most Important Factors</a:t>
            </a:r>
            <a:br>
              <a:rPr lang="en-US" sz="2800" b="1" dirty="0"/>
            </a:br>
            <a:r>
              <a:rPr lang="en-US" sz="2800" b="1" dirty="0"/>
              <a:t>8. Q3: Forecast by Carrier</a:t>
            </a:r>
            <a:br>
              <a:rPr lang="en-US" sz="2800" b="1" dirty="0"/>
            </a:br>
            <a:r>
              <a:rPr lang="en-US" sz="2800" b="1" dirty="0"/>
              <a:t>9. Q4: Busiest Times</a:t>
            </a:r>
            <a:br>
              <a:rPr lang="en-US" sz="2800" b="1" dirty="0"/>
            </a:br>
            <a:r>
              <a:rPr lang="en-US" sz="2800" b="1" dirty="0"/>
              <a:t>10. Recommendations </a:t>
            </a:r>
            <a:br>
              <a:rPr lang="en-US" sz="2800" b="1" dirty="0"/>
            </a:br>
            <a:r>
              <a:rPr lang="en-US" sz="2800" b="1" dirty="0"/>
              <a:t>11. Implementation Roadmap</a:t>
            </a:r>
            <a:br>
              <a:rPr lang="en-US" sz="2800" b="1" dirty="0"/>
            </a:br>
            <a:r>
              <a:rPr lang="en-US" sz="2800" b="1" dirty="0"/>
              <a:t>12.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1F77B4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1681" y="109501"/>
            <a:ext cx="5292089" cy="6638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400" b="1" u="sng" dirty="0">
                <a:solidFill>
                  <a:srgbClr val="FF0000"/>
                </a:solidFill>
              </a:rPr>
              <a:t>OBJECTIVE:</a:t>
            </a:r>
            <a:br>
              <a:rPr lang="en-US" sz="2400" dirty="0"/>
            </a:br>
            <a:r>
              <a:rPr lang="en-US" sz="2400" dirty="0"/>
              <a:t>• Forecast bus terminal passengers for 2026-2030</a:t>
            </a:r>
            <a:br>
              <a:rPr lang="en-US" sz="2400" dirty="0"/>
            </a:br>
            <a:r>
              <a:rPr lang="en-US" sz="2400" dirty="0"/>
              <a:t>• Help Port Authority plan temporary staging facilities</a:t>
            </a:r>
            <a:br>
              <a:rPr lang="en-US" sz="2400" dirty="0"/>
            </a:br>
            <a:r>
              <a:rPr lang="en-US" sz="2400" dirty="0"/>
              <a:t>• Identify busiest times and what drives demand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400" dirty="0">
              <a:solidFill>
                <a:srgbClr val="FF0000"/>
              </a:solidFill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400" b="1" u="sng" dirty="0">
                <a:solidFill>
                  <a:srgbClr val="FF0000"/>
                </a:solidFill>
              </a:rPr>
              <a:t>APPROACH:</a:t>
            </a:r>
            <a:br>
              <a:rPr lang="en-US" sz="2400" dirty="0"/>
            </a:br>
            <a:r>
              <a:rPr lang="en-US" sz="2400" dirty="0"/>
              <a:t>• Used three different software (Excel, R, Power BI)</a:t>
            </a:r>
            <a:br>
              <a:rPr lang="en-US" sz="2400" dirty="0"/>
            </a:br>
            <a:r>
              <a:rPr lang="en-US" sz="2400" dirty="0"/>
              <a:t>• Analyzed 260 weeks of forecasts</a:t>
            </a:r>
            <a:br>
              <a:rPr lang="en-US" sz="2400" dirty="0"/>
            </a:br>
            <a:r>
              <a:rPr lang="en-US" sz="2400" dirty="0"/>
              <a:t>• Validated by industry standards (FAA, Singapore, Seattle)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2CA02C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1682" y="109501"/>
            <a:ext cx="5154666" cy="663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400" b="1" u="sng" dirty="0">
                <a:solidFill>
                  <a:srgbClr val="FF0000"/>
                </a:solidFill>
              </a:rPr>
              <a:t>KEY RESULTS:</a:t>
            </a:r>
            <a:endParaRPr lang="en-US" sz="2000" b="1" u="sng" dirty="0">
              <a:solidFill>
                <a:srgbClr val="FF0000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/>
              <a:t>FORECAST: 27,323,999 passengers (2026-2030)</a:t>
            </a:r>
            <a:br>
              <a:rPr lang="en-US" sz="2000" dirty="0"/>
            </a:br>
            <a:r>
              <a:rPr lang="en-US" sz="2000" dirty="0"/>
              <a:t>   • Growth: +12% over 5 years</a:t>
            </a:r>
            <a:br>
              <a:rPr lang="en-US" sz="2000" dirty="0"/>
            </a:br>
            <a:r>
              <a:rPr lang="en-US" sz="2000" dirty="0"/>
              <a:t>   • Average: 105,092 passengers per week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/>
              <a:t>BEST MODEL: Power BI (Least MAE)</a:t>
            </a:r>
            <a:br>
              <a:rPr lang="en-US" sz="2000" dirty="0"/>
            </a:br>
            <a:r>
              <a:rPr lang="en-US" sz="2000" dirty="0"/>
              <a:t>   • 92% more accurate than Excel</a:t>
            </a:r>
            <a:br>
              <a:rPr lang="en-US" sz="2000" dirty="0"/>
            </a:br>
            <a:r>
              <a:rPr lang="en-US" sz="2000" dirty="0"/>
              <a:t>   • 17% more accurate than R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/>
              <a:t> BIGGEST CARRIER: NJ Transit (85.8% of all passengers)</a:t>
            </a:r>
            <a:br>
              <a:rPr lang="en-US" sz="2000" dirty="0"/>
            </a:br>
            <a:r>
              <a:rPr lang="en-US" sz="2000" dirty="0"/>
              <a:t>   • 23.4 million out of 27.3 million total</a:t>
            </a:r>
            <a:br>
              <a:rPr lang="en-US" sz="2000" dirty="0"/>
            </a:br>
            <a:endParaRPr lang="en-U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/>
              <a:t>BUSIEST TIMES:</a:t>
            </a:r>
            <a:br>
              <a:rPr lang="en-US" sz="2000" dirty="0"/>
            </a:br>
            <a:r>
              <a:rPr lang="en-US" sz="2000" dirty="0"/>
              <a:t>   • Year: 2030 | Month: October | Week: 44</a:t>
            </a:r>
            <a:br>
              <a:rPr lang="en-US" sz="2000" dirty="0"/>
            </a:br>
            <a:r>
              <a:rPr lang="en-US" sz="2000" dirty="0"/>
              <a:t>   • Day: Monday | Hours: 7-8 AM &amp; 5-6 PM</a:t>
            </a:r>
            <a:br>
              <a:rPr lang="en-US" sz="2000" dirty="0"/>
            </a:br>
            <a:endParaRPr lang="en-U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/>
              <a:t>MAIN RECOMMENDATION: Build for 130,000 per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9467BD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PRE-COVID RECOVERY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7287" y="195517"/>
            <a:ext cx="5102712" cy="6662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71450" indent="-1714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100"/>
            </a:pPr>
            <a:r>
              <a:rPr lang="en-US" sz="2400" b="1" u="sng" dirty="0">
                <a:solidFill>
                  <a:srgbClr val="FF0000"/>
                </a:solidFill>
              </a:rPr>
              <a:t>QUESTION: How does current data compare to pre-COVID?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100"/>
            </a:pPr>
            <a:endParaRPr lang="en-US" sz="2400" u="sng" dirty="0">
              <a:solidFill>
                <a:srgbClr val="FF0000"/>
              </a:solidFill>
            </a:endParaRPr>
          </a:p>
          <a:p>
            <a:pPr marL="171450" indent="-1714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100"/>
            </a:pPr>
            <a:r>
              <a:rPr lang="en-US" sz="1600" b="1" u="sng" dirty="0">
                <a:solidFill>
                  <a:srgbClr val="FF0000"/>
                </a:solidFill>
              </a:rPr>
              <a:t>FINDINGS:</a:t>
            </a:r>
            <a:br>
              <a:rPr lang="en-US" sz="1600" dirty="0"/>
            </a:br>
            <a:r>
              <a:rPr lang="en-US" sz="1600" dirty="0"/>
              <a:t>• Pre-COVID (Fall 2019): 3,900 passengers/week</a:t>
            </a:r>
            <a:br>
              <a:rPr lang="en-US" sz="1600" dirty="0"/>
            </a:br>
            <a:r>
              <a:rPr lang="en-US" sz="1600" dirty="0"/>
              <a:t>• Current-  2,897 passengers/week</a:t>
            </a:r>
            <a:br>
              <a:rPr lang="en-US" sz="1600" dirty="0"/>
            </a:br>
            <a:r>
              <a:rPr lang="en-US" sz="1600" dirty="0"/>
              <a:t>• Recovery: 74.3% (still 25.7% below pre-COVID)</a:t>
            </a:r>
            <a:br>
              <a:rPr lang="en-US" sz="1600" dirty="0"/>
            </a:br>
            <a:endParaRPr lang="en-US" sz="1600" b="1" dirty="0"/>
          </a:p>
          <a:p>
            <a:pPr marL="171450" indent="-1714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100"/>
            </a:pPr>
            <a:r>
              <a:rPr lang="en-US" sz="1600" b="1" u="sng" dirty="0">
                <a:solidFill>
                  <a:srgbClr val="FF0000"/>
                </a:solidFill>
              </a:rPr>
              <a:t>RECOVERY TREND:</a:t>
            </a:r>
            <a:br>
              <a:rPr lang="en-US" sz="1600" dirty="0"/>
            </a:br>
            <a:r>
              <a:rPr lang="en-US" sz="1600" dirty="0"/>
              <a:t>• 2023: 72.3% of 2019 levels</a:t>
            </a:r>
            <a:br>
              <a:rPr lang="en-US" sz="1600" dirty="0"/>
            </a:br>
            <a:r>
              <a:rPr lang="en-US" sz="1600" dirty="0"/>
              <a:t>• 2024: 75.0% of 2019 levels</a:t>
            </a:r>
            <a:br>
              <a:rPr lang="en-US" sz="1600" dirty="0"/>
            </a:br>
            <a:r>
              <a:rPr lang="en-US" sz="1600" dirty="0"/>
              <a:t>• 2025: 75.9% of 2019 levels</a:t>
            </a:r>
            <a:br>
              <a:rPr lang="en-US" sz="1600" dirty="0"/>
            </a:br>
            <a:r>
              <a:rPr lang="en-US" sz="1600" dirty="0"/>
              <a:t>• Slowly improving but not fully recovered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100"/>
            </a:pPr>
            <a:endParaRPr lang="en-US" sz="1600" dirty="0"/>
          </a:p>
          <a:p>
            <a:pPr marL="171450" indent="-1714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100"/>
            </a:pPr>
            <a:r>
              <a:rPr lang="en-US" sz="1600" b="1" u="sng" dirty="0">
                <a:solidFill>
                  <a:srgbClr val="FF0000"/>
                </a:solidFill>
              </a:rPr>
              <a:t>WHY STILL BELOW PRE-COVID:</a:t>
            </a:r>
            <a:br>
              <a:rPr lang="en-US" sz="1600" dirty="0"/>
            </a:br>
            <a:r>
              <a:rPr lang="en-US" sz="1600" dirty="0"/>
              <a:t>• More people work from home now</a:t>
            </a:r>
            <a:br>
              <a:rPr lang="en-US" sz="1600" dirty="0"/>
            </a:br>
            <a:r>
              <a:rPr lang="en-US" sz="1600" dirty="0"/>
              <a:t>• More people use Uber/Lyft instead of buses</a:t>
            </a:r>
            <a:br>
              <a:rPr lang="en-US" sz="1600" dirty="0"/>
            </a:br>
            <a:r>
              <a:rPr lang="en-US" sz="1600" dirty="0"/>
              <a:t>• Travel patterns changed after pandemic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100"/>
            </a:pPr>
            <a:endParaRPr lang="en-US" sz="1600" dirty="0"/>
          </a:p>
          <a:p>
            <a:pPr marL="171450" indent="-17145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100"/>
            </a:pPr>
            <a:r>
              <a:rPr lang="en-US" sz="1600" b="1" u="sng" dirty="0">
                <a:solidFill>
                  <a:srgbClr val="FF0000"/>
                </a:solidFill>
              </a:rPr>
              <a:t>OUR FORECAST ACCOUNTS FOR THIS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• 2030 forecast (112,593/week) is 29x pre-COVID baseline</a:t>
            </a:r>
            <a:br>
              <a:rPr lang="en-US" sz="1600" dirty="0"/>
            </a:br>
            <a:r>
              <a:rPr lang="en-US" sz="1600" dirty="0"/>
              <a:t>• We're forecasting growth, not just recovery to old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1F77B4"/>
                </a:solidFill>
              </a:defRPr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THREE MODELING TECHNIQUES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2569" y="1807549"/>
            <a:ext cx="8692331" cy="4928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2000" b="1" u="sng" dirty="0">
                <a:solidFill>
                  <a:srgbClr val="FF0000"/>
                </a:solidFill>
              </a:rPr>
              <a:t>1. EXCEL + TIME SERIES</a:t>
            </a:r>
            <a:br>
              <a:rPr lang="en-US" sz="2000" dirty="0"/>
            </a:br>
            <a:r>
              <a:rPr lang="en-US" sz="2000" dirty="0"/>
              <a:t>   • Models: SARIMA &amp; Holt-Winters</a:t>
            </a:r>
            <a:br>
              <a:rPr lang="en-US" sz="2000" dirty="0"/>
            </a:br>
            <a:r>
              <a:rPr lang="en-US" sz="2000" dirty="0"/>
              <a:t>   • Simple and easy to use</a:t>
            </a:r>
            <a:br>
              <a:rPr lang="en-US" sz="2000" dirty="0"/>
            </a:br>
            <a:r>
              <a:rPr lang="en-US" sz="2000" dirty="0"/>
              <a:t>   • Used by FAA for airports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2000" b="1" u="sng" dirty="0">
                <a:solidFill>
                  <a:srgbClr val="002060"/>
                </a:solidFill>
              </a:rPr>
              <a:t>2. R + REGRESSION</a:t>
            </a:r>
            <a:br>
              <a:rPr lang="en-US" sz="2000" dirty="0"/>
            </a:br>
            <a:r>
              <a:rPr lang="en-US" sz="2000" dirty="0"/>
              <a:t>   • Model: OLS with important variables</a:t>
            </a:r>
            <a:br>
              <a:rPr lang="en-US" sz="2000" dirty="0"/>
            </a:br>
            <a:r>
              <a:rPr lang="en-US" sz="2000" dirty="0"/>
              <a:t>   • Includes weather and holidays</a:t>
            </a:r>
            <a:br>
              <a:rPr lang="en-US" sz="2000" dirty="0"/>
            </a:br>
            <a:r>
              <a:rPr lang="en-US" sz="2000" dirty="0"/>
              <a:t>   • Used by Singapore trains (92% accurate)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2000" b="1" u="sng" dirty="0">
                <a:solidFill>
                  <a:srgbClr val="7030A0"/>
                </a:solidFill>
              </a:rPr>
              <a:t>3. POWER BI + FACTOR ANALYSIS</a:t>
            </a:r>
            <a:br>
              <a:rPr lang="en-US" sz="2000" b="1" u="sng" dirty="0">
                <a:solidFill>
                  <a:srgbClr val="7030A0"/>
                </a:solidFill>
              </a:rPr>
            </a:br>
            <a:r>
              <a:rPr lang="en-US" sz="2000" dirty="0"/>
              <a:t>   • Reduced 27 variables to 11 factors</a:t>
            </a:r>
            <a:br>
              <a:rPr lang="en-US" sz="2000" dirty="0"/>
            </a:br>
            <a:r>
              <a:rPr lang="en-US" sz="2000" dirty="0"/>
              <a:t>   • Error: (LEAST)</a:t>
            </a:r>
            <a:br>
              <a:rPr lang="en-US" sz="2000" dirty="0"/>
            </a:br>
            <a:r>
              <a:rPr lang="en-US" sz="2000" dirty="0"/>
              <a:t>   • Used by Seattle Airport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072AF7-3230-E543-534B-7456F7C41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301"/>
            <a:ext cx="9144000" cy="621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6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D62728"/>
                </a:solidFill>
              </a:defRPr>
            </a:pPr>
            <a:r>
              <a:rPr lang="en-US" sz="4700" dirty="0"/>
              <a:t>Q1: PASSENGER PROJECTIONS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2406" y="1528035"/>
            <a:ext cx="5331646" cy="47968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br>
              <a:rPr lang="en-US" sz="20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✓ ANSWER: 27,323,999 passengers total</a:t>
            </a:r>
            <a:br>
              <a:rPr lang="en-US" sz="20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YEAR-BY-YEAR: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• 2026: 5.1 million passengers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• 2027: 5.2 million passengers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• 2028: 5.5 million passengers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• 2029: 5.7 million passengers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• 2030: 5.7 million passengers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000" dirty="0">
              <a:solidFill>
                <a:srgbClr val="002060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>
                <a:solidFill>
                  <a:srgbClr val="002060"/>
                </a:solidFill>
              </a:rPr>
              <a:t>AVERAGE: 105,092 passengers per week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200"/>
            </a:pPr>
            <a:endParaRPr lang="en-US" sz="2000" dirty="0">
              <a:solidFill>
                <a:srgbClr val="002060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200"/>
            </a:pPr>
            <a:r>
              <a:rPr lang="en-US" sz="2000" dirty="0">
                <a:solidFill>
                  <a:srgbClr val="002060"/>
                </a:solidFill>
              </a:rPr>
              <a:t>GROWTH: +12% from 2026 to 2030</a:t>
            </a:r>
            <a:br>
              <a:rPr lang="en-US" sz="20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5" name="Picture 4" descr="View of motion blurred underground railway">
            <a:extLst>
              <a:ext uri="{FF2B5EF4-FFF2-40B4-BE49-F238E27FC236}">
                <a16:creationId xmlns:a16="http://schemas.microsoft.com/office/drawing/2014/main" id="{F55F47E2-6278-37B1-2174-2A3373B9F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90" r="9648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several graphs&#10;&#10;AI-generated content may be incorrect.">
            <a:extLst>
              <a:ext uri="{FF2B5EF4-FFF2-40B4-BE49-F238E27FC236}">
                <a16:creationId xmlns:a16="http://schemas.microsoft.com/office/drawing/2014/main" id="{D99DDB02-D0FC-D0A3-5499-CB9C3C49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26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6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716" y="-1"/>
            <a:ext cx="8229600" cy="786581"/>
          </a:xfrm>
        </p:spPr>
        <p:txBody>
          <a:bodyPr/>
          <a:lstStyle/>
          <a:p>
            <a:pPr>
              <a:defRPr sz="2800">
                <a:solidFill>
                  <a:srgbClr val="D62728"/>
                </a:solidFill>
              </a:defRPr>
            </a:pPr>
            <a:r>
              <a:rPr lang="en-IN" dirty="0"/>
              <a:t>Q2: MOST IMPORTANT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071" y="294969"/>
            <a:ext cx="8917858" cy="672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ANSWER: TOP 5 FACTORS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TIME TREND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Long-term growth over years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Strongest predictor in all models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HISTORICAL PATTERNS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Recent 4-week and 12-week averages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What happened recently predicts what happens next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SEASONALITY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52-week repeating patterns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Summer/fall busy, winter slow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WEATHER</a:t>
            </a:r>
            <a:b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Temperature and snow affect ridership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Cold weather = fewer passengers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HOLIDAYS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Thanksgiving and Christmas reduce demand 20-30%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People travel less during major holidays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542" y="48496"/>
            <a:ext cx="8229600" cy="1143000"/>
          </a:xfrm>
        </p:spPr>
        <p:txBody>
          <a:bodyPr/>
          <a:lstStyle/>
          <a:p>
            <a:pPr>
              <a:defRPr sz="2800">
                <a:solidFill>
                  <a:srgbClr val="D62728"/>
                </a:solidFill>
              </a:defRPr>
            </a:pPr>
            <a:r>
              <a:rPr lang="en-IN"/>
              <a:t>Q3: FORECAST BY CARRIER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73293" y="952617"/>
            <a:ext cx="8797413" cy="597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✓ ANSWER: TOP 5 CARRIERS (2026-2030)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1. NJ TRANSIT: 23.4M passengers (85.8%)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• Dominant carrier - needs most space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2. COACH USA: 1.6M passengers (5.9%)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• Second largest carrier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3. LAKELAND: 470K passengers (1.7%)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• Fastest growing (+14.5% per year)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4. ACADEMY: 351K passengers (1.3%)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• Stable growth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5. HCEE-COMMUNITY: 335K passengers (1.2%)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• Declining (-7.8% per year)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NJ Transit needs 85% of facility space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34" y="0"/>
            <a:ext cx="4061650" cy="11995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D62728"/>
                </a:solidFill>
              </a:defRPr>
            </a:pPr>
            <a:r>
              <a:rPr lang="en-US" sz="3500" dirty="0"/>
              <a:t>Q4: BUSIEST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120" y="878074"/>
            <a:ext cx="4572000" cy="589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BY YEAR: 2030 (5.7 million passengers)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BY MONTH: October (113,502 per week)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BY WEEK: Week 44 (late October)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BY DAY: Monday (20% of weekly traffic)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BY HOUR: 7-8 AM and 5-6 PM (12% each)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endParaRPr lang="en-U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100"/>
            </a:pPr>
            <a:endParaRPr lang="en-U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KEY PATTERNS:</a:t>
            </a:r>
            <a:br>
              <a:rPr lang="en-US" sz="2000" dirty="0"/>
            </a:br>
            <a:r>
              <a:rPr lang="en-US" sz="2000" dirty="0"/>
              <a:t>• 61% of daily traffic happens in 6 hours (rush hours)</a:t>
            </a:r>
            <a:br>
              <a:rPr lang="en-US" sz="2000" dirty="0"/>
            </a:br>
            <a:r>
              <a:rPr lang="en-US" sz="2000" dirty="0"/>
              <a:t>• 90% of traffic is on weekdays</a:t>
            </a:r>
            <a:br>
              <a:rPr lang="en-US" sz="2000" dirty="0"/>
            </a:br>
            <a:r>
              <a:rPr lang="en-US" sz="2000" dirty="0"/>
              <a:t>• October is 36% busier than December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5" name="Picture 4" descr="A blurry image of a traffic jam&#10;&#10;AI-generated content may be incorrect.">
            <a:extLst>
              <a:ext uri="{FF2B5EF4-FFF2-40B4-BE49-F238E27FC236}">
                <a16:creationId xmlns:a16="http://schemas.microsoft.com/office/drawing/2014/main" id="{914B9273-6F34-7F31-29AD-F5E63620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00" r="23558"/>
          <a:stretch>
            <a:fillRect/>
          </a:stretch>
        </p:blipFill>
        <p:spPr>
          <a:xfrm>
            <a:off x="4979318" y="1"/>
            <a:ext cx="4169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group of colorful graphs&#10;&#10;AI-generated content may be incorrect.">
            <a:extLst>
              <a:ext uri="{FF2B5EF4-FFF2-40B4-BE49-F238E27FC236}">
                <a16:creationId xmlns:a16="http://schemas.microsoft.com/office/drawing/2014/main" id="{312FB0FE-13DE-8B8C-309D-8DB05232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5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2CA02C"/>
                </a:solidFill>
              </a:defRPr>
            </a:pPr>
            <a:r>
              <a:rPr sz="3200" b="1" u="sng" dirty="0"/>
              <a:t>RECOMMENDATIONS</a:t>
            </a:r>
            <a:r>
              <a:rPr sz="32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728" y="773306"/>
            <a:ext cx="8873613" cy="6338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/>
            </a:pP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Build facility for 130,000 passengers per week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2030 peak is 112,593 + 15% safety buffer = 130,000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All three models confirm 12% growth to 2030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 sz="1050"/>
            </a:pP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modular design (can open/close sections)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October 36% busier than December (44% variation)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Save $2-3M per year in operating costs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Plan for 15,000 passengers per hour during rush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61% of daily traffic in 6 hours (7-9 AM, 4-7 PM)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Peak hours need maximum capacity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Allocate 85% of space to NJ Transit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They have 85.8% of all passengers (23.4M of 27.3M)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Space should match demand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6874-BC30-A1FC-E7EE-31360D582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28F1-D605-7F98-E475-800B0BE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2CA02C"/>
                </a:solidFill>
              </a:defRPr>
            </a:pPr>
            <a:r>
              <a:rPr sz="4000" b="1" u="sng" dirty="0"/>
              <a:t>RECOMMENDATIONS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B7DA-896D-F29A-4B68-71C45BB10FC9}"/>
              </a:ext>
            </a:extLst>
          </p:cNvPr>
          <p:cNvSpPr txBox="1"/>
          <p:nvPr/>
        </p:nvSpPr>
        <p:spPr>
          <a:xfrm>
            <a:off x="191728" y="773306"/>
            <a:ext cx="8873613" cy="449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/>
            </a:pP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Create weather contingency plan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Snow reduces ridership 30% (coefficient: 13,170)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Adjust staffing on bad weather days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Reduce to 70% capacity during holidays</a:t>
            </a:r>
            <a:b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Thanksgiving/Christmas have 20-30% fewer passengers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Save money during slow periods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Update forecasts every 3 months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Keep predictions accurate with new data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Industry best practice (FAA does this)</a:t>
            </a:r>
          </a:p>
        </p:txBody>
      </p:sp>
    </p:spTree>
    <p:extLst>
      <p:ext uri="{BB962C8B-B14F-4D97-AF65-F5344CB8AC3E}">
        <p14:creationId xmlns:p14="http://schemas.microsoft.com/office/powerpoint/2010/main" val="4362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65"/>
            <a:ext cx="8229600" cy="885568"/>
          </a:xfrm>
        </p:spPr>
        <p:txBody>
          <a:bodyPr/>
          <a:lstStyle/>
          <a:p>
            <a:pPr>
              <a:defRPr sz="2800">
                <a:solidFill>
                  <a:srgbClr val="2CA02C"/>
                </a:solidFill>
              </a:defRPr>
            </a:pPr>
            <a:r>
              <a:rPr b="1" u="sng" dirty="0"/>
              <a:t>WHY THESE RECOMMENDATIONS</a:t>
            </a:r>
            <a:r>
              <a:rPr lang="en-US" b="1" u="sng" dirty="0"/>
              <a:t>?</a:t>
            </a:r>
            <a:endParaRPr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17987" y="1360295"/>
            <a:ext cx="4454013" cy="4794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/>
            </a:pP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130,000 CAPACITY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Avoids overcrowding and safety issues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Prevents wasting $5-10M on too-large facility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MODULAR DESIGN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Saves $2-3M per year in operating costs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Flexibility for seasonal changes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15,000/HOUR PEAK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No long lines during rush hour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Good customer experience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85% FOR NJ TRANSIT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Efficient use of space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Matches actual demand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D2307-B0BA-455A-24B8-07C40FCE3704}"/>
              </a:ext>
            </a:extLst>
          </p:cNvPr>
          <p:cNvSpPr txBox="1"/>
          <p:nvPr/>
        </p:nvSpPr>
        <p:spPr>
          <a:xfrm>
            <a:off x="4670323" y="702281"/>
            <a:ext cx="4355690" cy="3907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/>
            </a:pP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WEATHER CONTINGENCY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Saves money on snow days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Adjusts to actual conditions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HOLIDAY REDUCTION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Saves $500K-1M during holiday season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No wasted capacity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QUARTERLY UPDATES</a:t>
            </a:r>
            <a:br>
              <a:rPr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Maintains forecast accuracy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Catches changes early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993"/>
            <a:ext cx="8229600" cy="11430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F77B4"/>
                </a:solidFill>
              </a:defRPr>
            </a:pPr>
            <a:r>
              <a:rPr sz="3200" b="1" u="sng" dirty="0"/>
              <a:t>ONGOING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071" y="1373393"/>
            <a:ext cx="3967316" cy="5324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1100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WEEK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Check: Did actual passengers match our forecast?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yes: Great, everything on track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no (&gt;15% difference): Investigate why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 sz="1100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1100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MONTH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last month's actual data to Excel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Click "Refresh" to update forecast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Review updated predictions</a:t>
            </a: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2756E-81BF-C937-177F-66AA1B6F8535}"/>
              </a:ext>
            </a:extLst>
          </p:cNvPr>
          <p:cNvSpPr txBox="1"/>
          <p:nvPr/>
        </p:nvSpPr>
        <p:spPr>
          <a:xfrm>
            <a:off x="4414684" y="886776"/>
            <a:ext cx="4463845" cy="596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11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MONTHS: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Re-run all three models with new data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annual forecasts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 if accuracy improved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Adjust facility plans if needed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 sz="11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11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YEAR 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 review of forecast accuracy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to other transit agencies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models with new techniques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Present results to 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11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  <a:defRPr sz="11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SIMPLE: Like checking your bank account weekly, paying bills monthly, and doing taxes quarterly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36" y="7340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800">
                <a:solidFill>
                  <a:srgbClr val="1F77B4"/>
                </a:solidFill>
              </a:defRPr>
            </a:pPr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-74125" y="1109473"/>
            <a:ext cx="7270928" cy="5596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endParaRPr lang="en-U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✅ Complete 5-year forecast (27.3M passengers)</a:t>
            </a:r>
            <a:br>
              <a:rPr lang="en-US" sz="2000" dirty="0"/>
            </a:br>
            <a:r>
              <a:rPr lang="en-US" sz="2000" dirty="0"/>
              <a:t>✅ Pre-COVID analysis (74.3% recovery)</a:t>
            </a:r>
            <a:br>
              <a:rPr lang="en-US" sz="2000" dirty="0"/>
            </a:br>
            <a:r>
              <a:rPr lang="en-US" sz="2000" dirty="0"/>
              <a:t>✅ Three validated models (Power BI best)</a:t>
            </a:r>
            <a:br>
              <a:rPr lang="en-US" sz="2000" dirty="0"/>
            </a:br>
            <a:r>
              <a:rPr lang="en-US" sz="2000" dirty="0"/>
              <a:t>✅ Busiest times identified </a:t>
            </a:r>
          </a:p>
          <a:p>
            <a:pPr marL="57150" defTabSz="914400">
              <a:lnSpc>
                <a:spcPct val="90000"/>
              </a:lnSpc>
              <a:spcAft>
                <a:spcPts val="600"/>
              </a:spcAft>
              <a:defRPr sz="1100"/>
            </a:pPr>
            <a:r>
              <a:rPr lang="en-US" sz="2000" dirty="0"/>
              <a:t>(Oct, Week 44, Mon, 7-8 AM/5-6 PM)</a:t>
            </a:r>
          </a:p>
          <a:p>
            <a:pPr marL="57150" defTabSz="914400">
              <a:lnSpc>
                <a:spcPct val="90000"/>
              </a:lnSpc>
              <a:spcAft>
                <a:spcPts val="600"/>
              </a:spcAft>
              <a:defRPr sz="1100"/>
            </a:pPr>
            <a:br>
              <a:rPr lang="en-US" sz="2000" dirty="0"/>
            </a:br>
            <a:r>
              <a:rPr lang="en-US" sz="2000" dirty="0"/>
              <a:t>✅ 7 clear recommendations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endParaRPr lang="en-US" sz="20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MAIN RECOMMENDATION: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/>
            </a:pPr>
            <a:r>
              <a:rPr lang="en-US" sz="2000" dirty="0"/>
              <a:t>Build 130,000 passenger/week facility with:</a:t>
            </a:r>
            <a:br>
              <a:rPr lang="en-US" sz="2000" dirty="0"/>
            </a:br>
            <a:r>
              <a:rPr lang="en-US" sz="2000" dirty="0"/>
              <a:t>• Modular design (44% seasonal flexibility)</a:t>
            </a:r>
            <a:br>
              <a:rPr lang="en-US" sz="2000" dirty="0"/>
            </a:br>
            <a:r>
              <a:rPr lang="en-US" sz="2000" dirty="0"/>
              <a:t>• 15,000/hour peak capacity</a:t>
            </a:r>
            <a:br>
              <a:rPr lang="en-US" sz="2000" dirty="0"/>
            </a:br>
            <a:r>
              <a:rPr lang="en-US" sz="2000" dirty="0"/>
              <a:t>• 85% allocated to NJ Transit</a:t>
            </a:r>
            <a:br>
              <a:rPr lang="en-US" sz="2000" dirty="0"/>
            </a:br>
            <a:r>
              <a:rPr lang="en-US" sz="2000" dirty="0"/>
              <a:t>• Weather and holiday contingency plans</a:t>
            </a:r>
            <a:br>
              <a:rPr lang="en-US" sz="2000" dirty="0"/>
            </a:br>
            <a:r>
              <a:rPr lang="en-US" sz="2000" dirty="0"/>
              <a:t>• Quarterly forecast updates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05690AFFD2BC45B5E713BE8361DAC3" ma:contentTypeVersion="5" ma:contentTypeDescription="Create a new document." ma:contentTypeScope="" ma:versionID="c44312f37993a1f7a47258b53288d99c">
  <xsd:schema xmlns:xsd="http://www.w3.org/2001/XMLSchema" xmlns:xs="http://www.w3.org/2001/XMLSchema" xmlns:p="http://schemas.microsoft.com/office/2006/metadata/properties" xmlns:ns3="f48b5144-a9bc-494d-aaec-b8e114bc8e86" targetNamespace="http://schemas.microsoft.com/office/2006/metadata/properties" ma:root="true" ma:fieldsID="26226db491ef0a002c520a9c5b70c1f3" ns3:_="">
    <xsd:import namespace="f48b5144-a9bc-494d-aaec-b8e114bc8e8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8b5144-a9bc-494d-aaec-b8e114bc8e8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48b5144-a9bc-494d-aaec-b8e114bc8e86" xsi:nil="true"/>
  </documentManagement>
</p:properties>
</file>

<file path=customXml/itemProps1.xml><?xml version="1.0" encoding="utf-8"?>
<ds:datastoreItem xmlns:ds="http://schemas.openxmlformats.org/officeDocument/2006/customXml" ds:itemID="{2D74BC46-5659-45A9-A5D3-5F083A1A97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8b5144-a9bc-494d-aaec-b8e114bc8e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23118-36BF-4056-A241-4AA1441138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56441D-DBE1-48DC-8D26-D2AFA491F07B}">
  <ds:schemaRefs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f48b5144-a9bc-494d-aaec-b8e114bc8e86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1575</Words>
  <Application>Microsoft Office PowerPoint</Application>
  <PresentationFormat>On-screen Show (4:3)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PowerPoint Presentation</vt:lpstr>
      <vt:lpstr>AGENDA</vt:lpstr>
      <vt:lpstr>PROJECT OVERVIEW</vt:lpstr>
      <vt:lpstr>EXECUTIVE SUMMARY</vt:lpstr>
      <vt:lpstr>PRE-COVID RECOVERY ANALYSIS</vt:lpstr>
      <vt:lpstr>THREE MODELING TECHNIQUES</vt:lpstr>
      <vt:lpstr>PowerPoint Presentation</vt:lpstr>
      <vt:lpstr>Q1: PASSENGER PROJECTIONS</vt:lpstr>
      <vt:lpstr>PowerPoint Presentation</vt:lpstr>
      <vt:lpstr>Q2: MOST IMPORTANT FACTORS</vt:lpstr>
      <vt:lpstr>Q3: FORECAST BY CARRIER</vt:lpstr>
      <vt:lpstr>Q4: BUSIEST TIMES</vt:lpstr>
      <vt:lpstr>PowerPoint Presentation</vt:lpstr>
      <vt:lpstr>RECOMMENDATIONS </vt:lpstr>
      <vt:lpstr>RECOMMENDATIONS </vt:lpstr>
      <vt:lpstr>WHY THESE RECOMMENDATIONS?</vt:lpstr>
      <vt:lpstr>ONGOING OPERATIONS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Sufyan, Mohammed Aslam</cp:lastModifiedBy>
  <cp:revision>29</cp:revision>
  <dcterms:created xsi:type="dcterms:W3CDTF">2013-01-27T09:14:16Z</dcterms:created>
  <dcterms:modified xsi:type="dcterms:W3CDTF">2025-12-01T22:46:15Z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0x0101002905690AFFD2BC45B5E713BE8361DAC3</vt:lpwstr>
  </property>
</Properties>
</file>